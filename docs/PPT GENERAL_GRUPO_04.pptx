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79" r:id="rId3"/>
    <p:sldId id="304" r:id="rId4"/>
    <p:sldId id="307" r:id="rId5"/>
    <p:sldId id="308" r:id="rId6"/>
    <p:sldId id="309" r:id="rId7"/>
    <p:sldId id="310" r:id="rId8"/>
    <p:sldId id="311" r:id="rId9"/>
    <p:sldId id="306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05" r:id="rId37"/>
  </p:sldIdLst>
  <p:sldSz cx="16281400" cy="9169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747775"/>
          </p15:clr>
        </p15:guide>
        <p15:guide id="2" pos="5128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B343EA-EF99-0E86-8915-EF5360515CFA}" name="Veronica Margarita Sanchez Sandoval" initials="VS" userId="S::veronica.sanchez@upn.edu.pe::3d75d633-225f-4577-bf68-d38b52dc3f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A31"/>
    <a:srgbClr val="FFECC1"/>
    <a:srgbClr val="FF5EE8"/>
    <a:srgbClr val="A0D7FF"/>
    <a:srgbClr val="BE5EFF"/>
    <a:srgbClr val="FFB818"/>
    <a:srgbClr val="FFB819"/>
    <a:srgbClr val="00B9FF"/>
    <a:srgbClr val="9500FF"/>
    <a:srgbClr val="B9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 autoAdjust="0"/>
    <p:restoredTop sz="92902" autoAdjust="0"/>
  </p:normalViewPr>
  <p:slideViewPr>
    <p:cSldViewPr snapToGrid="0">
      <p:cViewPr varScale="1">
        <p:scale>
          <a:sx n="55" d="100"/>
          <a:sy n="55" d="100"/>
        </p:scale>
        <p:origin x="132" y="1740"/>
      </p:cViewPr>
      <p:guideLst>
        <p:guide orient="horz" pos="2888"/>
        <p:guide pos="5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No colocar número de semana. No colocar el nombre del docente.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548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798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0B2A93E-4CDA-6062-0A01-045FD83E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08D48651-F209-E64B-F952-8E5164E61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0DD0B4CB-E165-FB1F-8281-1155CF6EE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9870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A256DBB-8FB8-E8D8-C203-04D6A6561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B7230665-3541-8B55-0AA0-A7C30ED7C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564E8789-1EE5-0533-D005-F8263F127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839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3456733-B105-8383-56C1-323A119D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E041505C-F675-958D-B5DE-CF5162B42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D20AD63C-1A39-8462-FFD0-0E487B5F1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542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23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153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DCAF10F-0615-5C7B-43D0-3F6B3A41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343730F0-1D83-58A6-CE96-AE51EE29E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473551E5-A9D6-E464-B4C3-A38D8C1C4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508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C5A7ABA-9E03-B503-45AD-9049DD2C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38EFABE5-D570-FAC3-AA7E-01934BFCF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A5DDCC90-1A8A-1871-314B-1FB473E16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534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812D4B5-B590-E9C9-17E5-791FD721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9930C601-1331-0225-EA43-D2A8482B4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86502FD4-6A33-9D82-8F95-66163B152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398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A451131-C832-EEF9-A9A7-F16297CB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>
            <a:extLst>
              <a:ext uri="{FF2B5EF4-FFF2-40B4-BE49-F238E27FC236}">
                <a16:creationId xmlns:a16="http://schemas.microsoft.com/office/drawing/2014/main" id="{ED0A75BF-7756-0F98-47BC-D390EA972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>
            <a:extLst>
              <a:ext uri="{FF2B5EF4-FFF2-40B4-BE49-F238E27FC236}">
                <a16:creationId xmlns:a16="http://schemas.microsoft.com/office/drawing/2014/main" id="{A770D815-5235-D794-C24B-2984FE4E8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309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86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024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935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287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934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230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404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No colocar número de semana. No colocar el nombre del docente.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332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982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3233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9251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08741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471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295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707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2303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647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8926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644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9708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3475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0050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b2454f4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b2454f4e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58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55013" y="1327366"/>
            <a:ext cx="15171402" cy="36592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259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54999" y="5052440"/>
            <a:ext cx="15171402" cy="1412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986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54999" y="3834355"/>
            <a:ext cx="15171402" cy="15006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1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54999" y="793353"/>
            <a:ext cx="15171402" cy="10209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54999" y="2054536"/>
            <a:ext cx="15171402" cy="60904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4090" lvl="0" indent="-61056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628181" lvl="1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442271" lvl="2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256361" lvl="3" indent="-5653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070452" lvl="4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884542" lvl="5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698632" lvl="6" indent="-5653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6512723" lvl="7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7326813" lvl="8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54999" y="793353"/>
            <a:ext cx="15171402" cy="10209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54999" y="990477"/>
            <a:ext cx="4999800" cy="13471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4273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54999" y="2477262"/>
            <a:ext cx="4999800" cy="5667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4090" lvl="0" indent="-54272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7"/>
            </a:lvl1pPr>
            <a:lvl2pPr marL="1628181" lvl="1" indent="-54272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7"/>
            </a:lvl2pPr>
            <a:lvl3pPr marL="2442271" lvl="2" indent="-54272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7"/>
            </a:lvl3pPr>
            <a:lvl4pPr marL="3256361" lvl="3" indent="-54272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7"/>
            </a:lvl4pPr>
            <a:lvl5pPr marL="4070452" lvl="4" indent="-54272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7"/>
            </a:lvl5pPr>
            <a:lvl6pPr marL="4884542" lvl="5" indent="-54272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7"/>
            </a:lvl6pPr>
            <a:lvl7pPr marL="5698632" lvl="6" indent="-54272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7"/>
            </a:lvl7pPr>
            <a:lvl8pPr marL="6512723" lvl="7" indent="-54272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37"/>
            </a:lvl8pPr>
            <a:lvl9pPr marL="7326813" lvl="8" indent="-54272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37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72917" y="802490"/>
            <a:ext cx="11338222" cy="72927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8547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140700" y="-223"/>
            <a:ext cx="8140700" cy="916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62787" tIns="162787" rIns="162787" bIns="16278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41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72738" y="2198401"/>
            <a:ext cx="7202703" cy="26425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479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72738" y="4997087"/>
            <a:ext cx="7202703" cy="2201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739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795054" y="1290820"/>
            <a:ext cx="6831992" cy="65873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814090" lvl="0" indent="-61056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628181" lvl="1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442271" lvl="2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256361" lvl="3" indent="-5653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070452" lvl="4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884542" lvl="5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698632" lvl="6" indent="-5653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6512723" lvl="7" indent="-5653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7326813" lvl="8" indent="-5653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554999" y="7541914"/>
            <a:ext cx="10681197" cy="10787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814090" lvl="0" indent="-4070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554999" y="1971907"/>
            <a:ext cx="15171402" cy="3500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213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554999" y="5619522"/>
            <a:ext cx="15171402" cy="2318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14090" lvl="0" indent="-610568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628181" lvl="1" indent="-56534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442271" lvl="2" indent="-56534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256361" lvl="3" indent="-565341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070452" lvl="4" indent="-56534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884542" lvl="5" indent="-56534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698632" lvl="6" indent="-565341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6512723" lvl="7" indent="-56534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7326813" lvl="8" indent="-56534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54999" y="793353"/>
            <a:ext cx="15171402" cy="102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54999" y="2054536"/>
            <a:ext cx="15171402" cy="609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5085682" y="8313192"/>
            <a:ext cx="976991" cy="70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781">
                <a:solidFill>
                  <a:schemeClr val="dk2"/>
                </a:solidFill>
              </a:defRPr>
            </a:lvl1pPr>
            <a:lvl2pPr lvl="1" algn="r">
              <a:buNone/>
              <a:defRPr sz="1781">
                <a:solidFill>
                  <a:schemeClr val="dk2"/>
                </a:solidFill>
              </a:defRPr>
            </a:lvl2pPr>
            <a:lvl3pPr lvl="2" algn="r">
              <a:buNone/>
              <a:defRPr sz="1781">
                <a:solidFill>
                  <a:schemeClr val="dk2"/>
                </a:solidFill>
              </a:defRPr>
            </a:lvl3pPr>
            <a:lvl4pPr lvl="3" algn="r">
              <a:buNone/>
              <a:defRPr sz="1781">
                <a:solidFill>
                  <a:schemeClr val="dk2"/>
                </a:solidFill>
              </a:defRPr>
            </a:lvl4pPr>
            <a:lvl5pPr lvl="4" algn="r">
              <a:buNone/>
              <a:defRPr sz="1781">
                <a:solidFill>
                  <a:schemeClr val="dk2"/>
                </a:solidFill>
              </a:defRPr>
            </a:lvl5pPr>
            <a:lvl6pPr lvl="5" algn="r">
              <a:buNone/>
              <a:defRPr sz="1781">
                <a:solidFill>
                  <a:schemeClr val="dk2"/>
                </a:solidFill>
              </a:defRPr>
            </a:lvl6pPr>
            <a:lvl7pPr lvl="6" algn="r">
              <a:buNone/>
              <a:defRPr sz="1781">
                <a:solidFill>
                  <a:schemeClr val="dk2"/>
                </a:solidFill>
              </a:defRPr>
            </a:lvl7pPr>
            <a:lvl8pPr lvl="7" algn="r">
              <a:buNone/>
              <a:defRPr sz="1781">
                <a:solidFill>
                  <a:schemeClr val="dk2"/>
                </a:solidFill>
              </a:defRPr>
            </a:lvl8pPr>
            <a:lvl9pPr lvl="8" algn="r">
              <a:buNone/>
              <a:defRPr sz="1781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, Rectángulo&#10;&#10;Descripción generada automáticamente">
            <a:extLst>
              <a:ext uri="{FF2B5EF4-FFF2-40B4-BE49-F238E27FC236}">
                <a16:creationId xmlns:a16="http://schemas.microsoft.com/office/drawing/2014/main" id="{1175CF95-C69F-B455-DC89-B13B9AB188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7305" b="78666"/>
          <a:stretch/>
        </p:blipFill>
        <p:spPr>
          <a:xfrm>
            <a:off x="593420" y="503948"/>
            <a:ext cx="3378505" cy="1667330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544950" y="6999143"/>
            <a:ext cx="13562974" cy="1546833"/>
          </a:xfrm>
          <a:prstGeom prst="rect">
            <a:avLst/>
          </a:prstGeom>
          <a:solidFill>
            <a:schemeClr val="bg1">
              <a:lumMod val="95000"/>
              <a:alpha val="64000"/>
            </a:schemeClr>
          </a:solidFill>
        </p:spPr>
        <p:txBody>
          <a:bodyPr spcFirstLastPara="1" wrap="square" lIns="162787" tIns="162787" rIns="162787" bIns="162787" anchor="b" anchorCtr="0">
            <a:normAutofit fontScale="90000"/>
          </a:bodyPr>
          <a:lstStyle/>
          <a:p>
            <a:r>
              <a:rPr lang="es-419" b="1" dirty="0">
                <a:solidFill>
                  <a:schemeClr val="tx1"/>
                </a:solidFill>
                <a:latin typeface="Sharp Grotesk Bold 15" panose="00000806000000000000" pitchFamily="50" charset="0"/>
              </a:rPr>
              <a:t>SISTEMA GESTIÓN DE CITAS</a:t>
            </a:r>
          </a:p>
        </p:txBody>
      </p:sp>
      <p:sp>
        <p:nvSpPr>
          <p:cNvPr id="15" name="Google Shape;56;p13">
            <a:extLst>
              <a:ext uri="{FF2B5EF4-FFF2-40B4-BE49-F238E27FC236}">
                <a16:creationId xmlns:a16="http://schemas.microsoft.com/office/drawing/2014/main" id="{4AA4C0C7-6D12-A805-60B7-877124FF926D}"/>
              </a:ext>
            </a:extLst>
          </p:cNvPr>
          <p:cNvSpPr txBox="1">
            <a:spLocks/>
          </p:cNvSpPr>
          <p:nvPr/>
        </p:nvSpPr>
        <p:spPr>
          <a:xfrm>
            <a:off x="8218174" y="503948"/>
            <a:ext cx="7849878" cy="98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787" tIns="162787" rIns="162787" bIns="16278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70000"/>
              </a:lnSpc>
              <a:buSzPts val="935"/>
            </a:pPr>
            <a:r>
              <a:rPr lang="es-419" sz="3600" b="1" dirty="0">
                <a:solidFill>
                  <a:schemeClr val="tx1"/>
                </a:solidFill>
                <a:latin typeface="Sharp Grotesk SemiBold 15" panose="00000706000000000000" pitchFamily="50" charset="0"/>
              </a:rPr>
              <a:t>CURSO: TÉCNICAS DE PROGRAMACIÓN ORIENTADA A OBJETOS</a:t>
            </a:r>
            <a:endParaRPr lang="es-419" sz="3600" b="1" dirty="0">
              <a:solidFill>
                <a:srgbClr val="00B9FF"/>
              </a:solidFill>
              <a:latin typeface="Sharp Grotesk SemiBold 15" panose="00000706000000000000" pitchFamily="50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46461C-96AA-0C4D-F067-6B2438CD49EE}"/>
              </a:ext>
            </a:extLst>
          </p:cNvPr>
          <p:cNvSpPr/>
          <p:nvPr/>
        </p:nvSpPr>
        <p:spPr>
          <a:xfrm flipH="1">
            <a:off x="10319656" y="5138053"/>
            <a:ext cx="45719" cy="12917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8829" y="1184046"/>
            <a:ext cx="1826932" cy="1062979"/>
          </a:xfrm>
          <a:prstGeom prst="rect">
            <a:avLst/>
          </a:prstGeom>
        </p:spPr>
      </p:pic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FA60AD3D-1955-48BA-81FC-B8A7FDE96FF7}"/>
              </a:ext>
            </a:extLst>
          </p:cNvPr>
          <p:cNvSpPr txBox="1">
            <a:spLocks/>
          </p:cNvSpPr>
          <p:nvPr/>
        </p:nvSpPr>
        <p:spPr>
          <a:xfrm>
            <a:off x="6594628" y="2803902"/>
            <a:ext cx="3749367" cy="5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787" tIns="162787" rIns="162787" bIns="16278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70000"/>
              </a:lnSpc>
              <a:buSzPts val="935"/>
            </a:pPr>
            <a:r>
              <a:rPr lang="es-419" sz="4400" b="1" dirty="0">
                <a:solidFill>
                  <a:schemeClr val="tx1"/>
                </a:solidFill>
                <a:latin typeface="Sharp Grotesk SemiBold 15" panose="00000706000000000000" pitchFamily="50" charset="0"/>
              </a:rPr>
              <a:t>GRUPO N°04</a:t>
            </a:r>
            <a:endParaRPr lang="es-419" sz="4400" b="1" dirty="0">
              <a:solidFill>
                <a:srgbClr val="00B9FF"/>
              </a:solidFill>
              <a:latin typeface="Sharp Grotesk SemiBold 15" panose="00000706000000000000" pitchFamily="50" charset="0"/>
            </a:endParaRP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40A26B53-A18E-46FD-99CF-412BD19EFE47}"/>
              </a:ext>
            </a:extLst>
          </p:cNvPr>
          <p:cNvSpPr txBox="1">
            <a:spLocks/>
          </p:cNvSpPr>
          <p:nvPr/>
        </p:nvSpPr>
        <p:spPr>
          <a:xfrm>
            <a:off x="2613100" y="3913484"/>
            <a:ext cx="10712297" cy="354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787" tIns="162787" rIns="162787" bIns="16278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4986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70000"/>
              </a:lnSpc>
              <a:buSzPts val="935"/>
            </a:pPr>
            <a:r>
              <a:rPr lang="es-419" sz="4400" b="1" dirty="0">
                <a:solidFill>
                  <a:schemeClr val="tx1"/>
                </a:solidFill>
                <a:latin typeface="Sharp Grotesk SemiBold 15" panose="00000706000000000000" pitchFamily="50" charset="0"/>
              </a:rPr>
              <a:t>Integrantes:</a:t>
            </a:r>
          </a:p>
          <a:p>
            <a:pPr marL="342900" lvl="0" indent="-342900" algn="l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20135" algn="l"/>
              </a:tabLst>
            </a:pPr>
            <a:r>
              <a:rPr lang="es-ES" sz="24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QUISPE PUSCAN MARVIN HARLEY		N00429145</a:t>
            </a:r>
            <a:endParaRPr lang="es-PE" sz="24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20135" algn="l"/>
              </a:tabLst>
            </a:pPr>
            <a:r>
              <a:rPr lang="es-ES" sz="24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LEVANO DIAZ EVELYN GISELA		N00438718</a:t>
            </a:r>
            <a:endParaRPr lang="es-PE" sz="24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20135" algn="l"/>
              </a:tabLst>
            </a:pPr>
            <a:r>
              <a:rPr lang="es-ES" sz="24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CHOQUE MARTINEZ JOSÉ CARLOS	N00441596</a:t>
            </a:r>
            <a:endParaRPr lang="es-PE" sz="24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3620135" algn="l"/>
              </a:tabLst>
            </a:pPr>
            <a:r>
              <a:rPr lang="es-ES" sz="24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MENDOZA YUCRA LIZ JACQUELINE	N00541462</a:t>
            </a:r>
            <a:endParaRPr lang="es-PE" sz="24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0" indent="0" algn="l">
              <a:lnSpc>
                <a:spcPct val="70000"/>
              </a:lnSpc>
              <a:buSzPts val="935"/>
            </a:pPr>
            <a:endParaRPr lang="es-419" sz="4400" b="1" dirty="0">
              <a:solidFill>
                <a:srgbClr val="00B9FF"/>
              </a:solidFill>
              <a:latin typeface="Sharp Grotesk SemiBold 15" panose="000007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7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4E602F6-48A4-7456-3D6F-25092B1EB506}"/>
              </a:ext>
            </a:extLst>
          </p:cNvPr>
          <p:cNvSpPr txBox="1"/>
          <p:nvPr/>
        </p:nvSpPr>
        <p:spPr>
          <a:xfrm>
            <a:off x="4659683" y="1591295"/>
            <a:ext cx="8279704" cy="96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cap="all" dirty="0">
                <a:solidFill>
                  <a:schemeClr val="bg2">
                    <a:lumMod val="50000"/>
                  </a:schemeClr>
                </a:solidFill>
              </a:rPr>
              <a:t>Identificación del Problema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8D28A0-1F5E-668C-7617-6716BE34A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273" y="2777515"/>
            <a:ext cx="11345682" cy="443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5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A2E57175-2B8F-2368-F01F-B6D4E8B1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C38C963-FDF2-7354-DDF4-E6A6A32C4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0280" y="1015400"/>
            <a:ext cx="2037321" cy="11853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842E423-F536-3741-D39B-315022B26EB8}"/>
              </a:ext>
            </a:extLst>
          </p:cNvPr>
          <p:cNvSpPr txBox="1"/>
          <p:nvPr/>
        </p:nvSpPr>
        <p:spPr>
          <a:xfrm>
            <a:off x="4407943" y="877576"/>
            <a:ext cx="10121029" cy="14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cap="all" dirty="0">
                <a:solidFill>
                  <a:srgbClr val="002060"/>
                </a:solidFill>
              </a:rPr>
              <a:t>Análisis de Causa-Efecto (Ishikawa)</a:t>
            </a:r>
          </a:p>
          <a:p>
            <a:endParaRPr lang="es-ES" sz="2800" b="1" cap="all" dirty="0">
              <a:solidFill>
                <a:schemeClr val="bg2">
                  <a:lumMod val="50000"/>
                </a:schemeClr>
              </a:solidFill>
            </a:endParaRPr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527EF0-32CD-7E8C-4F9E-F6FB7305D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105" y="3052336"/>
            <a:ext cx="5759450" cy="42113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FF3068-6E9E-1740-78C9-887BC029C7D3}"/>
              </a:ext>
            </a:extLst>
          </p:cNvPr>
          <p:cNvSpPr txBox="1"/>
          <p:nvPr/>
        </p:nvSpPr>
        <p:spPr>
          <a:xfrm>
            <a:off x="1330280" y="2609163"/>
            <a:ext cx="7615825" cy="1627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Personas</a:t>
            </a:r>
          </a:p>
          <a:p>
            <a:r>
              <a:rPr lang="es-ES" dirty="0"/>
              <a:t>Personal no capacitado en software clínico; cansancio por doble registro (físico y digital parcial).</a:t>
            </a: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D91DCD-2258-8AD3-8B87-EF48E2D0F8C0}"/>
              </a:ext>
            </a:extLst>
          </p:cNvPr>
          <p:cNvSpPr txBox="1"/>
          <p:nvPr/>
        </p:nvSpPr>
        <p:spPr>
          <a:xfrm>
            <a:off x="1330280" y="4269362"/>
            <a:ext cx="7615825" cy="1627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Procesos</a:t>
            </a:r>
          </a:p>
          <a:p>
            <a:r>
              <a:rPr lang="es-ES" dirty="0"/>
              <a:t>Ausencia de protocolos para citas de urgencia; flujos de cobro no estandarizados entre turnos.</a:t>
            </a:r>
          </a:p>
          <a:p>
            <a:pPr algn="l">
              <a:spcAft>
                <a:spcPts val="900"/>
              </a:spcAft>
              <a:buNone/>
            </a:pPr>
            <a:endParaRPr lang="es-ES" b="0" i="0" dirty="0">
              <a:solidFill>
                <a:srgbClr val="CBD5E1"/>
              </a:solidFill>
              <a:effectLst/>
              <a:latin typeface="Inter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E20C0F-5020-80BF-0205-F68CBF5654CC}"/>
              </a:ext>
            </a:extLst>
          </p:cNvPr>
          <p:cNvSpPr txBox="1"/>
          <p:nvPr/>
        </p:nvSpPr>
        <p:spPr>
          <a:xfrm>
            <a:off x="1330280" y="5896987"/>
            <a:ext cx="7727995" cy="201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Tecnología</a:t>
            </a:r>
          </a:p>
          <a:p>
            <a:r>
              <a:rPr lang="es-ES" dirty="0"/>
              <a:t>Uso de hardware antiguo; falta de una base de datos centralizada con persistencia sólida.</a:t>
            </a:r>
          </a:p>
          <a:p>
            <a:endParaRPr lang="es-ES" b="1" dirty="0">
              <a:solidFill>
                <a:srgbClr val="FF0000"/>
              </a:solidFill>
            </a:endParaRPr>
          </a:p>
          <a:p>
            <a:pPr algn="l">
              <a:spcAft>
                <a:spcPts val="900"/>
              </a:spcAft>
              <a:buNone/>
            </a:pPr>
            <a:endParaRPr lang="es-ES" b="0" i="0" dirty="0">
              <a:solidFill>
                <a:srgbClr val="CBD5E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424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8382A3ED-C0F8-9F80-11C1-55E67CFE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C0E370C-BEFD-25A7-7DD7-7D3B1A6B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25325" y="1078824"/>
            <a:ext cx="2037321" cy="11853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557B6B2-B865-689A-8CEA-2600314462D6}"/>
              </a:ext>
            </a:extLst>
          </p:cNvPr>
          <p:cNvSpPr txBox="1"/>
          <p:nvPr/>
        </p:nvSpPr>
        <p:spPr>
          <a:xfrm>
            <a:off x="5648020" y="803174"/>
            <a:ext cx="6201601" cy="14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cap="all" dirty="0">
                <a:solidFill>
                  <a:srgbClr val="002060"/>
                </a:solidFill>
              </a:rPr>
              <a:t>Antecedentes (APA)</a:t>
            </a:r>
          </a:p>
          <a:p>
            <a:endParaRPr lang="es-ES" sz="3200" b="1" cap="all" dirty="0">
              <a:solidFill>
                <a:srgbClr val="002060"/>
              </a:solidFill>
            </a:endParaRPr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E8EC2F-F4AB-7CD4-A893-BDE5AA2F5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970" y="2264215"/>
            <a:ext cx="13251105" cy="556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3FC5D507-99FC-EEF7-00D2-328DDF50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A4A4404-E30E-597F-4D9D-BBDEC1038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69356" y="973528"/>
            <a:ext cx="2037321" cy="11853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FB2FE0E-23F6-137D-6D63-CD91EE6E6BFB}"/>
              </a:ext>
            </a:extLst>
          </p:cNvPr>
          <p:cNvSpPr txBox="1"/>
          <p:nvPr/>
        </p:nvSpPr>
        <p:spPr>
          <a:xfrm>
            <a:off x="5574081" y="1190321"/>
            <a:ext cx="6776581" cy="96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cap="all" dirty="0">
                <a:solidFill>
                  <a:schemeClr val="bg2">
                    <a:lumMod val="50000"/>
                  </a:schemeClr>
                </a:solidFill>
              </a:rPr>
              <a:t>RESTRICCIONES DEL SISTEMA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CFAEF5-D068-7FD6-2453-FFE4FE51D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292" y="2350039"/>
            <a:ext cx="12883943" cy="562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61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ACE55C-10A4-0F54-13B8-FAB7AB23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846" y="2583825"/>
            <a:ext cx="12256691" cy="1020961"/>
          </a:xfrm>
        </p:spPr>
        <p:txBody>
          <a:bodyPr/>
          <a:lstStyle/>
          <a:p>
            <a:r>
              <a:rPr kumimoji="0" lang="es-ES" sz="480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Objetivo General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3B04C5-4A41-159A-96E8-48986CA09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1846" y="3238573"/>
            <a:ext cx="11298478" cy="194257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s-MX" sz="2000" kern="1200" dirty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</a:rPr>
              <a:t>Desarrollar un sistema de citas médicas en Java que permita gestionar de forma eficiente</a:t>
            </a:r>
            <a:endParaRPr lang="es-ES" sz="2000" kern="1200" dirty="0">
              <a:solidFill>
                <a:srgbClr val="000000"/>
              </a:solidFill>
              <a:latin typeface="Arial Narrow" panose="020B0606020202030204" pitchFamily="34" charset="0"/>
              <a:ea typeface="+mn-ea"/>
              <a:cs typeface="+mn-cs"/>
            </a:endParaRP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7A337C-A450-94C0-CC70-494A5464D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4086" y="3846838"/>
            <a:ext cx="7429882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6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5848" y="1400538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C02193-7059-2E02-F498-E5F2E4F3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197" y="1795126"/>
            <a:ext cx="10033349" cy="894634"/>
          </a:xfrm>
        </p:spPr>
        <p:txBody>
          <a:bodyPr/>
          <a:lstStyle/>
          <a:p>
            <a:r>
              <a:rPr kumimoji="0" lang="es-ES" sz="450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Objetivos Específicos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DD617A-73F7-CE2D-2EFA-256B2ECCE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3615" y="2689760"/>
            <a:ext cx="10659651" cy="5290458"/>
          </a:xfrm>
        </p:spPr>
        <p:txBody>
          <a:bodyPr/>
          <a:lstStyle/>
          <a:p>
            <a:pPr marL="203522" indent="0">
              <a:buNone/>
            </a:pP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B14E1C-1827-BD23-A543-65BCA18B1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9636" y="2689760"/>
            <a:ext cx="5749637" cy="52904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386F2D2-CB51-7BF7-F718-6707F28B6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0700" y="2689760"/>
            <a:ext cx="6101594" cy="52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7E7799B2-4C29-8789-7868-6622011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B5A0018-2563-0801-BA28-FD5FF851ED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5848" y="1400538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F2762F-1E3B-57BC-948A-80C4FF0B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5" y="2793591"/>
            <a:ext cx="10033349" cy="894634"/>
          </a:xfrm>
        </p:spPr>
        <p:txBody>
          <a:bodyPr>
            <a:normAutofit fontScale="90000"/>
          </a:bodyPr>
          <a:lstStyle/>
          <a:p>
            <a:r>
              <a:rPr kumimoji="0" lang="es-ES" sz="480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Alcance del sistema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760509-69B7-E4DE-09D9-8C05EEC43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614" y="3895887"/>
            <a:ext cx="9485619" cy="300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3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414E389F-2F76-A99A-1883-8946A8FD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155FA1E-3A12-7A68-75E4-D16A4359D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5848" y="1400538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B2E6753-6FC3-8D3C-06C9-D433B4D2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833" y="1795126"/>
            <a:ext cx="8333985" cy="894634"/>
          </a:xfrm>
        </p:spPr>
        <p:txBody>
          <a:bodyPr>
            <a:normAutofit/>
          </a:bodyPr>
          <a:lstStyle/>
          <a:p>
            <a:r>
              <a:rPr kumimoji="0" lang="es-ES" sz="4500" b="1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Restricciones del Sistema </a:t>
            </a:r>
            <a:endParaRPr lang="es-PE" b="1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FAD0DF-384C-6588-6835-D4E0F86B1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055" y="2881745"/>
            <a:ext cx="7869381" cy="445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9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A8E54E11-72B9-5507-81DF-6BA1806B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62B374C-21B3-6354-1FE8-E24F774DB4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5848" y="1400538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5306D3-7DA6-54BE-80BC-A314469E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203" y="1691295"/>
            <a:ext cx="7527397" cy="894634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s-ES" sz="3100" b="1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Requerimientos Funcionales  del Sistema </a:t>
            </a:r>
            <a:br>
              <a:rPr kumimoji="0" lang="es-ES" sz="1800" b="0" i="0" u="none" strike="noStrike" kern="1200" cap="all" spc="0" normalizeH="0" baseline="0" noProof="0" dirty="0">
                <a:ln>
                  <a:noFill/>
                </a:ln>
                <a:solidFill>
                  <a:srgbClr val="045FC4">
                    <a:lumMod val="7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</a:b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BA3784-16E3-520A-D6F7-E0834050F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901" y="2585929"/>
            <a:ext cx="6266992" cy="51384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A81C29-672F-BCBC-D040-463A851F6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927" y="2693774"/>
            <a:ext cx="6093573" cy="51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9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D5243249-EBED-6967-ED79-8A597A4E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6BB3C2E-07EB-0FF0-3091-5D13AEA2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5848" y="1400538"/>
            <a:ext cx="2037321" cy="118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9E3ADC-A79B-05B8-08AC-9BA4C728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710" y="1374058"/>
            <a:ext cx="7813964" cy="894634"/>
          </a:xfrm>
        </p:spPr>
        <p:txBody>
          <a:bodyPr>
            <a:normAutofit/>
          </a:bodyPr>
          <a:lstStyle/>
          <a:p>
            <a:r>
              <a:rPr kumimoji="0" lang="es-PE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j-ea"/>
                <a:cs typeface="+mj-cs"/>
              </a:rPr>
              <a:t>HISTORIAS DE USUARIO</a:t>
            </a:r>
            <a:endParaRPr lang="es-PE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5AD2A9-2C03-FAAB-A48C-842A58A20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091" y="2295172"/>
            <a:ext cx="9240981" cy="572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4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AF417E1-5B0F-47EE-A29C-C849B59AFF6D}"/>
              </a:ext>
            </a:extLst>
          </p:cNvPr>
          <p:cNvSpPr txBox="1"/>
          <p:nvPr/>
        </p:nvSpPr>
        <p:spPr>
          <a:xfrm>
            <a:off x="1960164" y="6722055"/>
            <a:ext cx="2361971" cy="984914"/>
          </a:xfrm>
          <a:prstGeom prst="rect">
            <a:avLst/>
          </a:prstGeom>
          <a:noFill/>
          <a:ln w="38100">
            <a:solidFill>
              <a:srgbClr val="FFB819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4D90BADD-2905-464A-AADB-1545356FF8A8}"/>
              </a:ext>
            </a:extLst>
          </p:cNvPr>
          <p:cNvGrpSpPr/>
          <p:nvPr/>
        </p:nvGrpSpPr>
        <p:grpSpPr>
          <a:xfrm>
            <a:off x="1545864" y="3646965"/>
            <a:ext cx="2706096" cy="2943865"/>
            <a:chOff x="1534434" y="3901218"/>
            <a:chExt cx="2706096" cy="2943865"/>
          </a:xfrm>
        </p:grpSpPr>
        <p:pic>
          <p:nvPicPr>
            <p:cNvPr id="4" name="Imagen 3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4C41CFC9-956E-4DD4-A2E1-452FD6F9798F}"/>
                </a:ext>
              </a:extLst>
            </p:cNvPr>
            <p:cNvPicPr/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45" t="92298" r="48127" b="4582"/>
            <a:stretch/>
          </p:blipFill>
          <p:spPr bwMode="auto">
            <a:xfrm>
              <a:off x="1534434" y="4628559"/>
              <a:ext cx="2551749" cy="63962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Imagen 4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BA087CF1-0357-4309-AAF8-B751C819FBE0}"/>
                </a:ext>
              </a:extLst>
            </p:cNvPr>
            <p:cNvPicPr/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27" t="91888" r="68041" b="4342"/>
            <a:stretch/>
          </p:blipFill>
          <p:spPr bwMode="auto">
            <a:xfrm>
              <a:off x="1791648" y="3901218"/>
              <a:ext cx="2037319" cy="63962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Imagen 5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D9A94ECA-5032-4CF9-BCCE-33DBF119865C}"/>
                </a:ext>
              </a:extLst>
            </p:cNvPr>
            <p:cNvPicPr/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93" t="92179" r="29670" b="4221"/>
            <a:stretch/>
          </p:blipFill>
          <p:spPr bwMode="auto">
            <a:xfrm>
              <a:off x="1791648" y="5268181"/>
              <a:ext cx="2037320" cy="78845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Imagen 6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A516AFF7-C17F-4011-BE5B-7C9E4321A520}"/>
                </a:ext>
              </a:extLst>
            </p:cNvPr>
            <p:cNvPicPr/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437" t="92412" r="8221" b="3820"/>
            <a:stretch/>
          </p:blipFill>
          <p:spPr bwMode="auto">
            <a:xfrm>
              <a:off x="1791648" y="6056632"/>
              <a:ext cx="2448882" cy="78845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0DED380-EA1F-4F95-9490-2E848171AB9B}"/>
              </a:ext>
            </a:extLst>
          </p:cNvPr>
          <p:cNvSpPr txBox="1"/>
          <p:nvPr/>
        </p:nvSpPr>
        <p:spPr>
          <a:xfrm>
            <a:off x="1951591" y="3170809"/>
            <a:ext cx="1717439" cy="47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9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Leyenda</a:t>
            </a: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Imagen 8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FA85604E-6561-408E-94EC-DCB03ADF6FE6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8" t="1993" r="34599" b="86447"/>
          <a:stretch/>
        </p:blipFill>
        <p:spPr bwMode="auto">
          <a:xfrm>
            <a:off x="8510873" y="746639"/>
            <a:ext cx="2468880" cy="10277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7FEE005-BD8C-4A21-8650-256E255476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200"/>
          <a:stretch/>
        </p:blipFill>
        <p:spPr>
          <a:xfrm>
            <a:off x="6165597" y="1774345"/>
            <a:ext cx="7159432" cy="174221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014526B-29F5-4CEB-993A-799AD81C208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0117"/>
          <a:stretch/>
        </p:blipFill>
        <p:spPr>
          <a:xfrm>
            <a:off x="6146845" y="3099714"/>
            <a:ext cx="4387284" cy="198551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507DA14-A83C-455F-83C3-1A24D9FB24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057" r="3058"/>
          <a:stretch/>
        </p:blipFill>
        <p:spPr>
          <a:xfrm>
            <a:off x="6106205" y="6161291"/>
            <a:ext cx="7460078" cy="219978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1049DFC-32A4-4068-8618-D84E92A4EC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3597" y="3538910"/>
            <a:ext cx="4277360" cy="330617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16CBA61-9840-4F18-B362-02D8BA0BF591}"/>
              </a:ext>
            </a:extLst>
          </p:cNvPr>
          <p:cNvSpPr txBox="1"/>
          <p:nvPr/>
        </p:nvSpPr>
        <p:spPr>
          <a:xfrm>
            <a:off x="6165597" y="128816"/>
            <a:ext cx="691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DIAGRAMA DE CLASES UML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26" name="Picture 2" descr="Icono de Nota Generic Others | Freepik">
            <a:extLst>
              <a:ext uri="{FF2B5EF4-FFF2-40B4-BE49-F238E27FC236}">
                <a16:creationId xmlns:a16="http://schemas.microsoft.com/office/drawing/2014/main" id="{787D70CE-CDD4-4FDB-9DF8-3744631B2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503" y="6619578"/>
            <a:ext cx="634764" cy="63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A75254-D6FF-4D70-B4F0-CC51D6B7F8E7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51054" y="6853226"/>
            <a:ext cx="2229294" cy="8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0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304784" y="1311603"/>
            <a:ext cx="2037321" cy="118539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9F0481-BFDE-464E-A957-F0E61237BC2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65287" y="832297"/>
            <a:ext cx="12809725" cy="91694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3D21B64-3EDE-4C3A-84E3-477B06CDA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880" y="2636573"/>
            <a:ext cx="2225233" cy="308636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FEE0011-373B-4C39-9EC8-785596B1C04F}"/>
              </a:ext>
            </a:extLst>
          </p:cNvPr>
          <p:cNvSpPr txBox="1"/>
          <p:nvPr/>
        </p:nvSpPr>
        <p:spPr>
          <a:xfrm>
            <a:off x="4812030" y="103537"/>
            <a:ext cx="8453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DIAGRAMA GENERAL DEL SISTEMA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167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B9E48AE-F1A3-4467-A1A9-FFBC0E8F17F9}"/>
              </a:ext>
            </a:extLst>
          </p:cNvPr>
          <p:cNvSpPr txBox="1"/>
          <p:nvPr/>
        </p:nvSpPr>
        <p:spPr>
          <a:xfrm>
            <a:off x="4191505" y="1056492"/>
            <a:ext cx="8453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DIAGRAMA GENERAL DEL SISTEMA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44A22EB-6057-4E73-8E38-FD0C229C546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681" r="67878" b="44756"/>
          <a:stretch/>
        </p:blipFill>
        <p:spPr>
          <a:xfrm>
            <a:off x="6981574" y="1865886"/>
            <a:ext cx="4861241" cy="61000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1DA2266-536B-4DBC-91D2-8B1A30E343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9694" b="93376"/>
          <a:stretch/>
        </p:blipFill>
        <p:spPr>
          <a:xfrm>
            <a:off x="2315871" y="3712211"/>
            <a:ext cx="2355177" cy="12565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0DB69EB-4F5B-460D-8BF3-88DD3AAE7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577" y="5294849"/>
            <a:ext cx="3084877" cy="93481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2AE080A-40E5-461B-A6AD-EF3F9B595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8660" y="1865886"/>
            <a:ext cx="2721797" cy="5549388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E49CFA9-E98D-465A-8C27-42FC679BAFFF}"/>
              </a:ext>
            </a:extLst>
          </p:cNvPr>
          <p:cNvCxnSpPr>
            <a:cxnSpLocks/>
          </p:cNvCxnSpPr>
          <p:nvPr/>
        </p:nvCxnSpPr>
        <p:spPr>
          <a:xfrm>
            <a:off x="5737860" y="1865886"/>
            <a:ext cx="0" cy="63179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5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9F0481-BFDE-464E-A957-F0E61237BC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3942" t="13860" r="34331" b="39769"/>
          <a:stretch/>
        </p:blipFill>
        <p:spPr>
          <a:xfrm>
            <a:off x="8350950" y="1628574"/>
            <a:ext cx="3669031" cy="64994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04EC6F-55F7-47C6-A715-A5072D1399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802" t="15689" r="55472" b="50032"/>
          <a:stretch/>
        </p:blipFill>
        <p:spPr>
          <a:xfrm>
            <a:off x="2045969" y="2512399"/>
            <a:ext cx="2349484" cy="5252909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876441E-647A-43A6-BC0B-2E7C4BFC5D4C}"/>
              </a:ext>
            </a:extLst>
          </p:cNvPr>
          <p:cNvCxnSpPr>
            <a:cxnSpLocks/>
          </p:cNvCxnSpPr>
          <p:nvPr/>
        </p:nvCxnSpPr>
        <p:spPr>
          <a:xfrm>
            <a:off x="8129270" y="1858578"/>
            <a:ext cx="0" cy="62694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9ACF406-97E8-4A46-B837-A4D91C7F1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472" y="3383246"/>
            <a:ext cx="3092852" cy="24029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E02158C-1ACF-4CA7-880A-AF65F7E357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7125" y="3383246"/>
            <a:ext cx="2567011" cy="240005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304CD3F-02DE-4C39-81FD-B4CF6300FEFD}"/>
              </a:ext>
            </a:extLst>
          </p:cNvPr>
          <p:cNvSpPr txBox="1"/>
          <p:nvPr/>
        </p:nvSpPr>
        <p:spPr>
          <a:xfrm>
            <a:off x="4395453" y="982243"/>
            <a:ext cx="8453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DIAGRAMA GENERAL DEL SISTEMA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649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9F0481-BFDE-464E-A957-F0E61237BC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854" t="59517"/>
          <a:stretch/>
        </p:blipFill>
        <p:spPr>
          <a:xfrm>
            <a:off x="3006090" y="2820890"/>
            <a:ext cx="7635240" cy="555961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F001EC2-400B-4B64-AF13-E6ACA7DBF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582" y="3512538"/>
            <a:ext cx="2526178" cy="327688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F48DCF0-7B3C-483D-B70A-2B8A4A2793A6}"/>
              </a:ext>
            </a:extLst>
          </p:cNvPr>
          <p:cNvSpPr txBox="1"/>
          <p:nvPr/>
        </p:nvSpPr>
        <p:spPr>
          <a:xfrm>
            <a:off x="4697730" y="1212247"/>
            <a:ext cx="8453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DIAGRAMA GENERAL DEL SISTEMA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097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391D843-C9BA-4B7A-8840-5A1FA2F7137E}"/>
              </a:ext>
            </a:extLst>
          </p:cNvPr>
          <p:cNvSpPr txBox="1"/>
          <p:nvPr/>
        </p:nvSpPr>
        <p:spPr>
          <a:xfrm>
            <a:off x="4877192" y="1449380"/>
            <a:ext cx="7592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CONEXIÓN A BASE DE DATOS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A7A1ADD-5E3B-45C8-B518-0419D62340C2}"/>
              </a:ext>
            </a:extLst>
          </p:cNvPr>
          <p:cNvGrpSpPr/>
          <p:nvPr/>
        </p:nvGrpSpPr>
        <p:grpSpPr>
          <a:xfrm>
            <a:off x="1651887" y="3064389"/>
            <a:ext cx="3699271" cy="1559830"/>
            <a:chOff x="2457450" y="2854825"/>
            <a:chExt cx="3699271" cy="155983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1A25D75-CA4B-4EAF-AC0F-E9F33B133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43011" y="2854825"/>
              <a:ext cx="3013710" cy="1559830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DBA20CDF-562C-4F9D-9C41-090DF2ADE5D2}"/>
                </a:ext>
              </a:extLst>
            </p:cNvPr>
            <p:cNvSpPr/>
            <p:nvPr/>
          </p:nvSpPr>
          <p:spPr>
            <a:xfrm>
              <a:off x="2457450" y="3040380"/>
              <a:ext cx="534197" cy="5943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24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</a:t>
              </a:r>
              <a:endParaRPr kumimoji="0" lang="es-PE" sz="24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728DAF37-471D-4004-8A9A-0619CDE0125E}"/>
              </a:ext>
            </a:extLst>
          </p:cNvPr>
          <p:cNvGrpSpPr/>
          <p:nvPr/>
        </p:nvGrpSpPr>
        <p:grpSpPr>
          <a:xfrm>
            <a:off x="1651887" y="5491312"/>
            <a:ext cx="3551088" cy="1700924"/>
            <a:chOff x="2443007" y="4724400"/>
            <a:chExt cx="3551088" cy="1700924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798736ED-DEFA-4006-9A00-5A86B1DB4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1269" t="7375" r="19511" b="11002"/>
            <a:stretch/>
          </p:blipFill>
          <p:spPr>
            <a:xfrm>
              <a:off x="3042759" y="4802264"/>
              <a:ext cx="2951336" cy="1623060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0D6B8BD-6494-4F1C-8C44-996C5B65ED56}"/>
                </a:ext>
              </a:extLst>
            </p:cNvPr>
            <p:cNvSpPr/>
            <p:nvPr/>
          </p:nvSpPr>
          <p:spPr>
            <a:xfrm>
              <a:off x="2443007" y="4724400"/>
              <a:ext cx="534197" cy="5943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24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2</a:t>
              </a:r>
              <a:endParaRPr kumimoji="0" lang="es-PE" sz="24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5F621F9-3DA7-4914-9AD3-FE7D23C1A758}"/>
              </a:ext>
            </a:extLst>
          </p:cNvPr>
          <p:cNvCxnSpPr>
            <a:cxnSpLocks/>
          </p:cNvCxnSpPr>
          <p:nvPr/>
        </p:nvCxnSpPr>
        <p:spPr>
          <a:xfrm flipH="1">
            <a:off x="9410097" y="3889518"/>
            <a:ext cx="371279" cy="370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5" name="Grupo 44">
            <a:extLst>
              <a:ext uri="{FF2B5EF4-FFF2-40B4-BE49-F238E27FC236}">
                <a16:creationId xmlns:a16="http://schemas.microsoft.com/office/drawing/2014/main" id="{79FD3B16-5BE2-472E-93EA-1A84FE080C6E}"/>
              </a:ext>
            </a:extLst>
          </p:cNvPr>
          <p:cNvGrpSpPr/>
          <p:nvPr/>
        </p:nvGrpSpPr>
        <p:grpSpPr>
          <a:xfrm>
            <a:off x="5661354" y="2445393"/>
            <a:ext cx="8968159" cy="4746843"/>
            <a:chOff x="5661354" y="2445393"/>
            <a:chExt cx="8968159" cy="4746843"/>
          </a:xfrm>
        </p:grpSpPr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8234EEAD-5C6F-4029-8CF3-BA722FF82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43410" y="2719921"/>
              <a:ext cx="8886103" cy="4472315"/>
            </a:xfrm>
            <a:prstGeom prst="rect">
              <a:avLst/>
            </a:prstGeom>
          </p:spPr>
        </p:pic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FF7A9DDE-CF4F-4298-933B-09005C2D9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270" y="3743458"/>
              <a:ext cx="2957195" cy="579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C813ACDF-AD83-4AEC-AB57-FCA2432436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0097" y="4125461"/>
              <a:ext cx="2665950" cy="1851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B778701E-4DD4-49F8-ADA9-86D59D6CFC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6600" y="4074671"/>
              <a:ext cx="1543530" cy="384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1D3B1904-13FE-4485-95F0-9F3C2F2EEF8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7069" y="4710289"/>
              <a:ext cx="1435834" cy="16521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4226D1D2-E333-421C-BE6A-1CC09E63B6AB}"/>
                </a:ext>
              </a:extLst>
            </p:cNvPr>
            <p:cNvSpPr/>
            <p:nvPr/>
          </p:nvSpPr>
          <p:spPr>
            <a:xfrm>
              <a:off x="5661354" y="2445393"/>
              <a:ext cx="534197" cy="54905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24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3</a:t>
              </a:r>
              <a:endParaRPr kumimoji="0" lang="es-PE" sz="24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7687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20292" y="1265883"/>
            <a:ext cx="2037321" cy="11853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391D843-C9BA-4B7A-8840-5A1FA2F7137E}"/>
              </a:ext>
            </a:extLst>
          </p:cNvPr>
          <p:cNvSpPr txBox="1"/>
          <p:nvPr/>
        </p:nvSpPr>
        <p:spPr>
          <a:xfrm>
            <a:off x="6495851" y="2093784"/>
            <a:ext cx="3711138" cy="85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94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Conexión a base de datos</a:t>
            </a:r>
            <a:endParaRPr kumimoji="0" lang="es-PE" sz="2494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928712-AA51-4781-8AE5-BC1467781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0448" y="3188968"/>
            <a:ext cx="5294563" cy="4627804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F056C97A-BE22-454E-8E41-71105D7D8EB3}"/>
              </a:ext>
            </a:extLst>
          </p:cNvPr>
          <p:cNvSpPr/>
          <p:nvPr/>
        </p:nvSpPr>
        <p:spPr>
          <a:xfrm>
            <a:off x="1717756" y="2796838"/>
            <a:ext cx="534197" cy="5490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4</a:t>
            </a: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957C0E9-9317-4A52-945F-7166CFD7C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802" y="3463496"/>
            <a:ext cx="6684750" cy="3988864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FECD8832-945C-4488-A1C7-F65EE5E134FD}"/>
              </a:ext>
            </a:extLst>
          </p:cNvPr>
          <p:cNvSpPr/>
          <p:nvPr/>
        </p:nvSpPr>
        <p:spPr>
          <a:xfrm>
            <a:off x="7677703" y="3079906"/>
            <a:ext cx="534197" cy="5490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5</a:t>
            </a: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B75E6F-E37A-4ED5-B06B-D43B033FF275}"/>
              </a:ext>
            </a:extLst>
          </p:cNvPr>
          <p:cNvSpPr/>
          <p:nvPr/>
        </p:nvSpPr>
        <p:spPr>
          <a:xfrm>
            <a:off x="1885950" y="4240530"/>
            <a:ext cx="1565910" cy="17259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2494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544055F-A381-46F9-BF48-A9DD7480D719}"/>
              </a:ext>
            </a:extLst>
          </p:cNvPr>
          <p:cNvCxnSpPr/>
          <p:nvPr/>
        </p:nvCxnSpPr>
        <p:spPr>
          <a:xfrm flipV="1">
            <a:off x="8926830" y="4880610"/>
            <a:ext cx="1280159" cy="2263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DE3CF4B-CB0C-4A2F-BF2F-2F4C2471AA2D}"/>
              </a:ext>
            </a:extLst>
          </p:cNvPr>
          <p:cNvSpPr/>
          <p:nvPr/>
        </p:nvSpPr>
        <p:spPr>
          <a:xfrm>
            <a:off x="10206988" y="4446062"/>
            <a:ext cx="1805941" cy="80030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2494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20632B2-4382-4F14-8C87-85C2BCA88CAC}"/>
              </a:ext>
            </a:extLst>
          </p:cNvPr>
          <p:cNvSpPr txBox="1"/>
          <p:nvPr/>
        </p:nvSpPr>
        <p:spPr>
          <a:xfrm>
            <a:off x="4697729" y="1329850"/>
            <a:ext cx="7592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FFB818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t>CONEXIÓN A BASE DE DATOS</a:t>
            </a:r>
            <a:endParaRPr kumimoji="0" lang="es-PE" sz="3600" b="1" i="0" u="none" strike="noStrike" kern="0" cap="none" spc="0" normalizeH="0" baseline="0" noProof="0" dirty="0">
              <a:ln>
                <a:noFill/>
              </a:ln>
              <a:solidFill>
                <a:srgbClr val="FFB818"/>
              </a:solidFill>
              <a:effectLst>
                <a:outerShdw blurRad="50800" dist="50800" dir="5400000" algn="ctr" rotWithShape="0">
                  <a:prstClr val="black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355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, Rectángulo&#10;&#10;Descripción generada automáticamente">
            <a:extLst>
              <a:ext uri="{FF2B5EF4-FFF2-40B4-BE49-F238E27FC236}">
                <a16:creationId xmlns:a16="http://schemas.microsoft.com/office/drawing/2014/main" id="{1175CF95-C69F-B455-DC89-B13B9AB188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7305" b="78666"/>
          <a:stretch/>
        </p:blipFill>
        <p:spPr>
          <a:xfrm>
            <a:off x="593420" y="503948"/>
            <a:ext cx="3378505" cy="1667330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668042" y="3037867"/>
            <a:ext cx="13562974" cy="1546833"/>
          </a:xfrm>
          <a:prstGeom prst="rect">
            <a:avLst/>
          </a:prstGeom>
          <a:solidFill>
            <a:schemeClr val="bg1">
              <a:lumMod val="95000"/>
              <a:alpha val="64000"/>
            </a:schemeClr>
          </a:solidFill>
        </p:spPr>
        <p:txBody>
          <a:bodyPr spcFirstLastPara="1" wrap="square" lIns="162787" tIns="162787" rIns="162787" bIns="162787" anchor="b" anchorCtr="0">
            <a:normAutofit fontScale="90000"/>
          </a:bodyPr>
          <a:lstStyle/>
          <a:p>
            <a:r>
              <a:rPr lang="es-419" b="1" dirty="0">
                <a:solidFill>
                  <a:schemeClr val="tx1"/>
                </a:solidFill>
                <a:latin typeface="Sharp Grotesk Bold 15" panose="00000806000000000000" pitchFamily="50" charset="0"/>
              </a:rPr>
              <a:t>SISTEMA GESTIÓN DE CITAS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46461C-96AA-0C4D-F067-6B2438CD49EE}"/>
              </a:ext>
            </a:extLst>
          </p:cNvPr>
          <p:cNvSpPr/>
          <p:nvPr/>
        </p:nvSpPr>
        <p:spPr>
          <a:xfrm flipH="1">
            <a:off x="10319656" y="5138053"/>
            <a:ext cx="45719" cy="12917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249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9FB67F02-8E48-84ED-444A-F71B74BE09F1}"/>
              </a:ext>
            </a:extLst>
          </p:cNvPr>
          <p:cNvSpPr txBox="1">
            <a:spLocks/>
          </p:cNvSpPr>
          <p:nvPr/>
        </p:nvSpPr>
        <p:spPr>
          <a:xfrm>
            <a:off x="1668042" y="6334467"/>
            <a:ext cx="13562974" cy="1032007"/>
          </a:xfrm>
          <a:prstGeom prst="rect">
            <a:avLst/>
          </a:prstGeom>
          <a:solidFill>
            <a:schemeClr val="bg1">
              <a:lumMod val="95000"/>
              <a:alpha val="64000"/>
            </a:schemeClr>
          </a:solidFill>
          <a:ln>
            <a:noFill/>
          </a:ln>
        </p:spPr>
        <p:txBody>
          <a:bodyPr spcFirstLastPara="1" wrap="square" lIns="162787" tIns="162787" rIns="162787" bIns="162787" anchor="b" anchorCtr="0">
            <a:normAutofit fontScale="6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92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5200"/>
              <a:buFont typeface="Arial"/>
              <a:buNone/>
              <a:tabLst/>
              <a:defRPr/>
            </a:pPr>
            <a:r>
              <a:rPr kumimoji="0" lang="es-419" sz="9259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arp Grotesk Bold 15" panose="00000806000000000000" pitchFamily="50" charset="0"/>
                <a:cs typeface="Arial"/>
                <a:sym typeface="Arial"/>
              </a:rPr>
              <a:t>Implementación y demostración del sistema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C1E9BAD-257A-7373-C01D-B9D0A2EF8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260" y="910166"/>
            <a:ext cx="13768755" cy="73721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64B05E3-D4C8-55ED-971A-B854C0392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752" y="2069525"/>
            <a:ext cx="5593280" cy="510069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B741800-A97F-7065-F920-FE0AD11EF9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93768" y="5705826"/>
            <a:ext cx="2037321" cy="11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69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6364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ESTRUCTURA DEL PROYECTO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3B51B4-EFAA-F959-BD11-89AA48C45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393" y="2553981"/>
            <a:ext cx="6178307" cy="4061437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0857DC52-15BA-23A8-F2F3-C9DB99A4C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793" y="5879306"/>
            <a:ext cx="4762500" cy="1123950"/>
          </a:xfrm>
          <a:prstGeom prst="rect">
            <a:avLst/>
          </a:prstGeom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1E37D5D7-F717-5371-15DC-7E31DA1A5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8675" y="4864869"/>
            <a:ext cx="2466975" cy="2466975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F03EAD8E-5EDC-B529-41D0-A00BE02D4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742846" y="2739929"/>
            <a:ext cx="698280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Las entidades del mundo clínico real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b="1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atos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Persistencia en memoria con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ArrayList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estáticos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b="1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ontrolador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Validaciones y reglas de negocio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b="1" dirty="0">
                <a:solidFill>
                  <a:schemeClr val="tx1"/>
                </a:solidFill>
                <a:latin typeface="Arial" panose="020B0604020202020204" pitchFamily="34" charset="0"/>
              </a:rPr>
              <a:t>V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ista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Formularios Java Swing, sin lógica de negocio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Conexión JDBC con MySQL, patrón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b="1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kumimoji="0" lang="es-PE" altLang="es-P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rincipal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Clase </a:t>
            </a:r>
            <a:r>
              <a:rPr kumimoji="0" lang="es-PE" altLang="es-P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es-PE" altLang="es-P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punto de entrada </a:t>
            </a:r>
          </a:p>
        </p:txBody>
      </p:sp>
    </p:spTree>
    <p:extLst>
      <p:ext uri="{BB962C8B-B14F-4D97-AF65-F5344CB8AC3E}">
        <p14:creationId xmlns:p14="http://schemas.microsoft.com/office/powerpoint/2010/main" val="2975793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9459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MODELO – Herencia y Polimorfismo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077456-2111-EBAF-0B41-59BA07AED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736" y="2282124"/>
            <a:ext cx="4247318" cy="46051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49E6610-1D8F-A05D-4E25-FD0984586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619" y="2278240"/>
            <a:ext cx="3390657" cy="11999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79675C1-72D5-40C5-B672-5DFE496DC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619" y="3782930"/>
            <a:ext cx="5324965" cy="42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25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1314597" y="1024807"/>
            <a:ext cx="5966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Clase cita - Encapsulamiento 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077456-2111-EBAF-0B41-59BA07AED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118" y="2167487"/>
            <a:ext cx="2923759" cy="317008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FC43686-2942-C5A2-1E23-E9C221328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941" y="1024806"/>
            <a:ext cx="5502861" cy="7054199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57E9FA9A-6DBA-4EF5-3BA2-BA3238D6A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99932" y="5268320"/>
            <a:ext cx="7091314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atributo estado es privado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Nadie puede cambiarlo directamente desde afuera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Solo se cambia a través de métodos controlados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Garantiza transiciones de estado válidas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Flujo: Pendiente → Pagado → Atendida </a:t>
            </a:r>
          </a:p>
        </p:txBody>
      </p:sp>
    </p:spTree>
    <p:extLst>
      <p:ext uri="{BB962C8B-B14F-4D97-AF65-F5344CB8AC3E}">
        <p14:creationId xmlns:p14="http://schemas.microsoft.com/office/powerpoint/2010/main" val="281858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3719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DATOS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65D043-B643-5A14-7F05-2B191EF47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863" y="2492129"/>
            <a:ext cx="5545985" cy="478790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EE3D4B4-150A-694E-C51F-962139F78B53}"/>
              </a:ext>
            </a:extLst>
          </p:cNvPr>
          <p:cNvSpPr txBox="1"/>
          <p:nvPr/>
        </p:nvSpPr>
        <p:spPr>
          <a:xfrm>
            <a:off x="7731648" y="138876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CONTROLADOR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C7243A5-19F7-156A-8E0D-855FC6608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528" y="2492129"/>
            <a:ext cx="6204996" cy="450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56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3765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VISTAS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68A529-F5D3-CF7E-903C-FC90FCE41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724" y="2133477"/>
            <a:ext cx="2733553" cy="56385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59EC9BD-EFA5-F719-4340-DD7EE0FFF301}"/>
              </a:ext>
            </a:extLst>
          </p:cNvPr>
          <p:cNvSpPr txBox="1"/>
          <p:nvPr/>
        </p:nvSpPr>
        <p:spPr>
          <a:xfrm>
            <a:off x="8140700" y="1388761"/>
            <a:ext cx="3193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UTIL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C2224D-947F-AC3A-AA12-5BE7B4C82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812" y="2313719"/>
            <a:ext cx="2705100" cy="1552575"/>
          </a:xfrm>
          <a:prstGeom prst="rect">
            <a:avLst/>
          </a:prstGeom>
        </p:spPr>
      </p:pic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0BC57C90-A0FF-12B9-2FA0-9625367FC7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526" y="4206477"/>
            <a:ext cx="61531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84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PAQUETE CONTROLADOR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C173CC-E91A-FD8D-BA17-0A9D0D6E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879" y="1388761"/>
            <a:ext cx="5344998" cy="644706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11EA9D4-1034-A57A-1B12-1852FFDA9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535" y="2449268"/>
            <a:ext cx="3088542" cy="2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28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772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 - LOGIN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1DD3FB-DD86-75D7-4447-9643972D6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735" y="2306026"/>
            <a:ext cx="4568942" cy="51152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AC640AB-5280-4534-8466-9B449D28C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647" y="2226956"/>
            <a:ext cx="4568941" cy="519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8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10801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 – Registro de Pacientes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647ABF-5342-73D6-1278-E8E3F978B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49" y="2401823"/>
            <a:ext cx="7252424" cy="53788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9E01845-F51B-0BB1-2CE0-B7161EAB1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966" y="3024553"/>
            <a:ext cx="5340108" cy="444310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2C77441-8892-F8F6-271C-FCB3DBF66577}"/>
              </a:ext>
            </a:extLst>
          </p:cNvPr>
          <p:cNvSpPr txBox="1"/>
          <p:nvPr/>
        </p:nvSpPr>
        <p:spPr>
          <a:xfrm>
            <a:off x="9337430" y="2215662"/>
            <a:ext cx="3393831" cy="47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9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Validamos los datos</a:t>
            </a: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1356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10527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 – Registro de </a:t>
            </a:r>
            <a:r>
              <a:rPr kumimoji="0" lang="es-MX" sz="3200" b="1" i="0" u="none" strike="noStrike" kern="0" cap="none" spc="0" normalizeH="0" baseline="0" noProof="0" dirty="0" err="1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Medicos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C77441-8892-F8F6-271C-FCB3DBF66577}"/>
              </a:ext>
            </a:extLst>
          </p:cNvPr>
          <p:cNvSpPr txBox="1"/>
          <p:nvPr/>
        </p:nvSpPr>
        <p:spPr>
          <a:xfrm>
            <a:off x="9337430" y="2215662"/>
            <a:ext cx="3393831" cy="47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9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Validamos los datos</a:t>
            </a:r>
            <a:endParaRPr kumimoji="0" lang="es-PE" sz="249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B0E2BF-63B4-712A-9A22-99C6493AE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131" y="2453741"/>
            <a:ext cx="6716191" cy="47911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DE925A7-70E5-F11C-128E-3091ADF6B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639" y="2933945"/>
            <a:ext cx="5405315" cy="489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05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2070736" y="1388761"/>
            <a:ext cx="98379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 –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Registro de Especialidades y registro de horarios</a:t>
            </a:r>
            <a:endParaRPr kumimoji="0" lang="es-PE" sz="3200" b="1" i="0" u="none" strike="noStrike" kern="0" cap="none" spc="0" normalizeH="0" baseline="0" noProof="0" dirty="0">
              <a:ln>
                <a:noFill/>
              </a:ln>
              <a:solidFill>
                <a:srgbClr val="1058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59151BD-EC22-126E-DEC0-2856D9557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279" y="2632808"/>
            <a:ext cx="6096244" cy="561070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D5DAF62-0545-F3F0-F2DD-7DA014940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319" y="2632808"/>
            <a:ext cx="6585331" cy="56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2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1683874" y="1202798"/>
            <a:ext cx="10528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 – Agendar cita medica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66DACB-CEB1-8E10-E4FA-2AC3CE0F3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869" y="1787573"/>
            <a:ext cx="8801100" cy="60864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1D16C7-82E5-ED6B-6BA3-8D4E46E20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5906" y="2149230"/>
            <a:ext cx="30956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4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1683874" y="1202798"/>
            <a:ext cx="6896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Módulos de pagos - Consultorios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FCF44-6B11-D3B2-A8D7-25137161A2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73"/>
          <a:stretch/>
        </p:blipFill>
        <p:spPr>
          <a:xfrm>
            <a:off x="1683874" y="2522536"/>
            <a:ext cx="7042027" cy="50387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DC4AB03-5C4E-C038-E0E9-66384121E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122" y="2522536"/>
            <a:ext cx="45815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19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16FD267-7785-B1C6-D143-48E3BE8FBB1E}"/>
              </a:ext>
            </a:extLst>
          </p:cNvPr>
          <p:cNvSpPr txBox="1"/>
          <p:nvPr/>
        </p:nvSpPr>
        <p:spPr>
          <a:xfrm>
            <a:off x="1683874" y="1202798"/>
            <a:ext cx="7972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EJECUCIÓN DE LA INTERFAZ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3200" b="1" i="0" u="none" strike="noStrike" kern="0" cap="none" spc="0" normalizeH="0" baseline="0" noProof="0" dirty="0">
                <a:ln>
                  <a:noFill/>
                </a:ln>
                <a:solidFill>
                  <a:srgbClr val="1058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Panel de Urgencias – Panel de reportes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CB74B9-C425-AF97-633C-582377A0E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874" y="2594502"/>
            <a:ext cx="6076950" cy="53721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B8813CA-D773-D6A7-1871-E27B8CC44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922" y="2594502"/>
            <a:ext cx="59531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06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96A3856A-DF1C-04BD-2D08-964C5FE71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892" y="1676995"/>
            <a:ext cx="9506857" cy="633790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2A68E4-AF5C-210D-710E-9D85FBE0A14D}"/>
              </a:ext>
            </a:extLst>
          </p:cNvPr>
          <p:cNvSpPr txBox="1"/>
          <p:nvPr/>
        </p:nvSpPr>
        <p:spPr>
          <a:xfrm>
            <a:off x="5312229" y="1154500"/>
            <a:ext cx="40719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RESULTADOS</a:t>
            </a:r>
            <a:endParaRPr kumimoji="0" lang="es-PE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78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7195B-E863-FD86-FD3E-3061AF89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22039" y="3780483"/>
            <a:ext cx="2037321" cy="11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712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3266</TotalTime>
  <Words>395</Words>
  <Application>Microsoft Office PowerPoint</Application>
  <PresentationFormat>Personalizado</PresentationFormat>
  <Paragraphs>76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4" baseType="lpstr">
      <vt:lpstr>Aptos Narrow</vt:lpstr>
      <vt:lpstr>Arial</vt:lpstr>
      <vt:lpstr>Arial Narrow</vt:lpstr>
      <vt:lpstr>Inter</vt:lpstr>
      <vt:lpstr>Sharp Grotesk Bold 15</vt:lpstr>
      <vt:lpstr>Sharp Grotesk SemiBold 15</vt:lpstr>
      <vt:lpstr>Symbol</vt:lpstr>
      <vt:lpstr>Simple Light</vt:lpstr>
      <vt:lpstr>SISTEMA GESTIÓN DE CITAS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Objetivo General</vt:lpstr>
      <vt:lpstr>Objetivos Específicos</vt:lpstr>
      <vt:lpstr>Alcance del sistema</vt:lpstr>
      <vt:lpstr>Restricciones del Sistema </vt:lpstr>
      <vt:lpstr>Requerimientos Funcionales  del Sistema  </vt:lpstr>
      <vt:lpstr>HISTORIAS DE USUARIO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SISTEMA GESTIÓN DE CITAS</vt:lpstr>
      <vt:lpstr>Presentación de PowerPoint</vt:lpstr>
      <vt:lpstr>Modelo → Las entidades del mundo clínico real  Datos → Persistencia en memoria con ArrayList estáticos  Controlador → Validaciones y reglas de negocio  Vista → Formularios Java Swing, sin lógica de negocio  Util → Conexión JDBC con MySQL, patrón Singleton  Principal → Clase Main, punto de entrada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DE LA SEMANA</dc:title>
  <dc:creator>Usuario</dc:creator>
  <cp:lastModifiedBy>MARVINHARLEY</cp:lastModifiedBy>
  <cp:revision>39</cp:revision>
  <dcterms:modified xsi:type="dcterms:W3CDTF">2026-05-18T01:18:21Z</dcterms:modified>
</cp:coreProperties>
</file>